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slide 1 recap.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slide 2 recap.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slide 3 recap; metadata and dataset roles are now audited separately.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slide 4 recap and task correction.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slide 5 recap.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slide 6 recap.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slide 7 recap; dataset audit now separates tasks and access conditions.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slide 8 recap with updated metric families.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slide 9 recap.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slide 10 recap and correction.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slides 11–12 recap.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boundary of evidence. The original working deck remains untouched. Do not imply a full main report was merged if it could not be located.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Motivate reliability as a measurable problem, not a generic call for a better model. Cite CLIPScore, ALOHa, OpenCHAIR/MOCHa and grounded captioning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selected evolution timeline, not a count-complete review. Keep each paper's task label visible.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to avoid the common error of using LLaVA's instruction-following score or BLIP-2's VQAv2 gain as captioning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Cite official sources on the slide or in notes. The workbook records caveats and URLs.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single metric proves truth. Report a panel of scores, with dataset and implementation versions.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official IITH faculty page and IITH-hosted PDFs verify relevant work. Do not claim no IITH research exists.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novelty cannot be 'use CLIPScore', 'detect hallucination', 'write longer captions', or 'ground phrases' without a sharper difference.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Describe this as a candidate contribution, not a novelty claim already proven.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are proposed experiments. No result is known yet. Dataset licensing and split integrity must be checked before running.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that a reproducible negative result is more valuable than an unsupported novelty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Cite official PhysioNet access documentation and the LLaVA-Med research-only restriction if discussed.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remain claims to investigate, not facts. They should not appear in an abstract, conclusion or chart as measured values.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Timeline is a planning estimate, not a commitment. Adjust to available compute and academic deadlines.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to turn the presentation into a focused research discussion.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a selection; the updated document and workbook contain additional references.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reference list is in the updated research document and workbook.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324A"/>
                </a:solidFill>
                <a:latin typeface="Aptos Display"/>
              </a:defRPr>
            </a:pPr>
            <a:r>
              <a:t>IMAGE CAPTIONING — Literature survey (2021–2025)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1440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95E70"/>
                </a:solidFill>
              </a:defRPr>
            </a:pPr>
            <a:r>
              <a:t>Preserved core from original working draft; details expanded in the companion workbook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283642"/>
                </a:solidFill>
                <a:latin typeface="Aptos"/>
              </a:defRPr>
            </a:pPr>
            <a:r>
              <a:t>Research focus: visual–text alignment, caption generation, datasets, evaluation and open challenges</a:t>
            </a:r>
          </a:p>
          <a:p>
            <a:pPr>
              <a:spcAft>
                <a:spcPts val="1100"/>
              </a:spcAft>
              <a:defRPr sz="1800">
                <a:solidFill>
                  <a:srgbClr val="283642"/>
                </a:solidFill>
                <a:latin typeface="Aptos"/>
              </a:defRPr>
            </a:pPr>
            <a:r>
              <a:t>Original deck identified itself as a working draft for discussion at IIT Hyderabad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8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113385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CaptionLens | Research review cutoff: 23 Oct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324A"/>
                </a:solidFill>
                <a:latin typeface="Aptos Display"/>
              </a:defRPr>
            </a:pPr>
            <a:r>
              <a:t>Scope and review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1440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95E70"/>
                </a:solidFill>
              </a:defRPr>
            </a:pPr>
            <a:r>
              <a:t>Preserved core from original working draft; details expanded in the companion workbook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283642"/>
                </a:solidFill>
                <a:latin typeface="Aptos"/>
              </a:defRPr>
            </a:pPr>
            <a:r>
              <a:t>Scope: selected image-captioning papers from 2021–2025, including general-domain and remote-sensing work</a:t>
            </a:r>
          </a:p>
          <a:p>
            <a:pPr>
              <a:spcAft>
                <a:spcPts val="1100"/>
              </a:spcAft>
              <a:defRPr sz="1800">
                <a:solidFill>
                  <a:srgbClr val="283642"/>
                </a:solidFill>
                <a:latin typeface="Aptos"/>
              </a:defRPr>
            </a:pPr>
            <a:r>
              <a:t>Questions: image/text connection; datasets; evaluation; limitations</a:t>
            </a:r>
          </a:p>
          <a:p>
            <a:pPr>
              <a:spcAft>
                <a:spcPts val="1100"/>
              </a:spcAft>
              <a:defRPr sz="1800">
                <a:solidFill>
                  <a:srgbClr val="283642"/>
                </a:solidFill>
                <a:latin typeface="Aptos"/>
              </a:defRPr>
            </a:pPr>
            <a:r>
              <a:t>Original deck correctly warned that this was not yet exhaustive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8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113385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CaptionLens | Research review cutoff: 23 Oct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324A"/>
                </a:solidFill>
                <a:latin typeface="Aptos Display"/>
              </a:defRPr>
            </a:pPr>
            <a:r>
              <a:t>Literature survey: 2021–2022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1440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95E70"/>
                </a:solidFill>
              </a:defRPr>
            </a:pPr>
            <a:r>
              <a:t>Preserved core from original working draft; details expanded in the companion workbook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283642"/>
                </a:solidFill>
                <a:latin typeface="Aptos"/>
              </a:defRPr>
            </a:pPr>
            <a:r>
              <a:t>ClipCap: CLIP features mapped to GPT-2 prefix; exact metadata requires verification</a:t>
            </a:r>
          </a:p>
          <a:p>
            <a:pPr>
              <a:spcAft>
                <a:spcPts val="1100"/>
              </a:spcAft>
              <a:defRPr sz="1800">
                <a:solidFill>
                  <a:srgbClr val="283642"/>
                </a:solidFill>
                <a:latin typeface="Aptos"/>
              </a:defRPr>
            </a:pPr>
            <a:r>
              <a:t>CC12M: web-scale pretraining dataset, not a captioner</a:t>
            </a:r>
          </a:p>
          <a:p>
            <a:pPr>
              <a:spcAft>
                <a:spcPts val="1100"/>
              </a:spcAft>
              <a:defRPr sz="1800">
                <a:solidFill>
                  <a:srgbClr val="283642"/>
                </a:solidFill>
                <a:latin typeface="Aptos"/>
              </a:defRPr>
            </a:pPr>
            <a:r>
              <a:t>BLIP: bootstrapping captions and filtering; NWPU-Captions/MLCA-Net for remote sensing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8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113385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CaptionLens | Research review cutoff: 23 Oct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324A"/>
                </a:solidFill>
                <a:latin typeface="Aptos Display"/>
              </a:defRPr>
            </a:pPr>
            <a:r>
              <a:t>Literature survey: 2023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1440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95E70"/>
                </a:solidFill>
              </a:defRPr>
            </a:pPr>
            <a:r>
              <a:t>Preserved core from original working draft; details expanded in the companion workbook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283642"/>
                </a:solidFill>
                <a:latin typeface="Aptos"/>
              </a:defRPr>
            </a:pPr>
            <a:r>
              <a:t>BLIP-2: Q-Former bridges frozen vision encoder and LLM</a:t>
            </a:r>
          </a:p>
          <a:p>
            <a:pPr>
              <a:spcAft>
                <a:spcPts val="1100"/>
              </a:spcAft>
              <a:defRPr sz="1800">
                <a:solidFill>
                  <a:srgbClr val="283642"/>
                </a:solidFill>
                <a:latin typeface="Aptos"/>
              </a:defRPr>
            </a:pPr>
            <a:r>
              <a:t>InstructBLIP: instruction-aware visual-language model</a:t>
            </a:r>
          </a:p>
          <a:p>
            <a:pPr>
              <a:spcAft>
                <a:spcPts val="1100"/>
              </a:spcAft>
              <a:defRPr sz="1800">
                <a:solidFill>
                  <a:srgbClr val="283642"/>
                </a:solidFill>
                <a:latin typeface="Aptos"/>
              </a:defRPr>
            </a:pPr>
            <a:r>
              <a:t>LLaVA is primarily instruction following/VQA/dialogue; do not treat all reported metrics as caption metrics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8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113385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CaptionLens | Research review cutoff: 23 Oct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324A"/>
                </a:solidFill>
                <a:latin typeface="Aptos Display"/>
              </a:defRPr>
            </a:pPr>
            <a:r>
              <a:t>Literature survey: 2024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1440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95E70"/>
                </a:solidFill>
              </a:defRPr>
            </a:pPr>
            <a:r>
              <a:t>Preserved core from original working draft; details expanded in the companion workbook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283642"/>
                </a:solidFill>
                <a:latin typeface="Aptos"/>
              </a:defRPr>
            </a:pPr>
            <a:r>
              <a:t>FuseCap: caption enrichment; dataset and exact protocol need full-paper verification</a:t>
            </a:r>
          </a:p>
          <a:p>
            <a:pPr>
              <a:spcAft>
                <a:spcPts val="1100"/>
              </a:spcAft>
              <a:defRPr sz="1800">
                <a:solidFill>
                  <a:srgbClr val="283642"/>
                </a:solidFill>
                <a:latin typeface="Aptos"/>
              </a:defRPr>
            </a:pPr>
            <a:r>
              <a:t>Florence-2: unified prompt-based vision tasks including captioning and grounding</a:t>
            </a:r>
          </a:p>
          <a:p>
            <a:pPr>
              <a:spcAft>
                <a:spcPts val="1100"/>
              </a:spcAft>
              <a:defRPr sz="1800">
                <a:solidFill>
                  <a:srgbClr val="283642"/>
                </a:solidFill>
                <a:latin typeface="Aptos"/>
              </a:defRPr>
            </a:pPr>
            <a:r>
              <a:t>DOCCI and ImageInWords: detailed-description datasets; different annotation goals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8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113385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CaptionLens | Research review cutoff: 23 Oct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324A"/>
                </a:solidFill>
                <a:latin typeface="Aptos Display"/>
              </a:defRPr>
            </a:pPr>
            <a:r>
              <a:t>Literature survey: 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1440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95E70"/>
                </a:solidFill>
              </a:defRPr>
            </a:pPr>
            <a:r>
              <a:t>Preserved core from original working draft; details expanded in the companion workbook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283642"/>
                </a:solidFill>
                <a:latin typeface="Aptos"/>
              </a:defRPr>
            </a:pPr>
            <a:r>
              <a:t>Original deck listed external-knowledge and relation-aware captioning directions</a:t>
            </a:r>
          </a:p>
          <a:p>
            <a:pPr>
              <a:spcAft>
                <a:spcPts val="1100"/>
              </a:spcAft>
              <a:defRPr sz="1800">
                <a:solidFill>
                  <a:srgbClr val="283642"/>
                </a:solidFill>
                <a:latin typeface="Aptos"/>
              </a:defRPr>
            </a:pPr>
            <a:r>
              <a:t>Panoptic Captioning (NeurIPS 2025) is an important close prior work for comprehensive captions</a:t>
            </a:r>
          </a:p>
          <a:p>
            <a:pPr>
              <a:spcAft>
                <a:spcPts val="1100"/>
              </a:spcAft>
              <a:defRPr sz="1800">
                <a:solidFill>
                  <a:srgbClr val="283642"/>
                </a:solidFill>
                <a:latin typeface="Aptos"/>
              </a:defRPr>
            </a:pPr>
            <a:r>
              <a:t>Any method claim needs exact paper metadata and experiment details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8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113385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CaptionLens | Research review cutoff: 23 Oct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324A"/>
                </a:solidFill>
                <a:latin typeface="Aptos Display"/>
              </a:defRPr>
            </a:pPr>
            <a:r>
              <a:t>Public datasets to consider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1440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95E70"/>
                </a:solidFill>
              </a:defRPr>
            </a:pPr>
            <a:r>
              <a:t>Preserved core from original working draft; details expanded in the companion workbook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283642"/>
                </a:solidFill>
                <a:latin typeface="Aptos"/>
              </a:defRPr>
            </a:pPr>
            <a:r>
              <a:t>COCO and Flickr datasets for natural images</a:t>
            </a:r>
          </a:p>
          <a:p>
            <a:pPr>
              <a:spcAft>
                <a:spcPts val="1100"/>
              </a:spcAft>
              <a:defRPr sz="1800">
                <a:solidFill>
                  <a:srgbClr val="283642"/>
                </a:solidFill>
                <a:latin typeface="Aptos"/>
              </a:defRPr>
            </a:pPr>
            <a:r>
              <a:t>NoCaps for long-tail/out-of-domain evaluation</a:t>
            </a:r>
          </a:p>
          <a:p>
            <a:pPr>
              <a:spcAft>
                <a:spcPts val="1100"/>
              </a:spcAft>
              <a:defRPr sz="1800">
                <a:solidFill>
                  <a:srgbClr val="283642"/>
                </a:solidFill>
                <a:latin typeface="Aptos"/>
              </a:defRPr>
            </a:pPr>
            <a:r>
              <a:t>UCM-Captions, Sydney-Captions and RSICD for remote sensing; ROCO/MIMIC-CXR are different medical tasks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8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113385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CaptionLens | Research review cutoff: 23 Oct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324A"/>
                </a:solidFill>
                <a:latin typeface="Aptos Display"/>
              </a:defRPr>
            </a:pPr>
            <a:r>
              <a:t>Evaluation: what to record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1440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95E70"/>
                </a:solidFill>
              </a:defRPr>
            </a:pPr>
            <a:r>
              <a:t>Preserved core from original working draft; details expanded in the companion workbook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283642"/>
                </a:solidFill>
                <a:latin typeface="Aptos"/>
              </a:defRPr>
            </a:pPr>
            <a:r>
              <a:t>BLEU/METEOR/ROUGE-L/CIDEr/SPICE are not interchangeable</a:t>
            </a:r>
          </a:p>
          <a:p>
            <a:pPr>
              <a:spcAft>
                <a:spcPts val="1100"/>
              </a:spcAft>
              <a:defRPr sz="1800">
                <a:solidFill>
                  <a:srgbClr val="283642"/>
                </a:solidFill>
                <a:latin typeface="Aptos"/>
              </a:defRPr>
            </a:pPr>
            <a:r>
              <a:t>CLIPScore evaluates image-text compatibility, not object-level truth by itself</a:t>
            </a:r>
          </a:p>
          <a:p>
            <a:pPr>
              <a:spcAft>
                <a:spcPts val="1100"/>
              </a:spcAft>
              <a:defRPr sz="1800">
                <a:solidFill>
                  <a:srgbClr val="283642"/>
                </a:solidFill>
                <a:latin typeface="Aptos"/>
              </a:defRPr>
            </a:pPr>
            <a:r>
              <a:t>CHAIR, ALOHa/OpenCHAIR and grounding measures provide complementary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8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113385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CaptionLens | Research review cutoff: 23 Oct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324A"/>
                </a:solidFill>
                <a:latin typeface="Aptos Display"/>
              </a:defRPr>
            </a:pPr>
            <a:r>
              <a:t>Synthesis: trends and candidate research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1440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95E70"/>
                </a:solidFill>
              </a:defRPr>
            </a:pPr>
            <a:r>
              <a:t>Preserved core from original working draft; details expanded in the companion workbook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283642"/>
                </a:solidFill>
                <a:latin typeface="Aptos"/>
              </a:defRPr>
            </a:pPr>
            <a:r>
              <a:t>Architecture trend: CNN/RNN → attention/Transformer → pretrained VLM/MLLM → detailed/grounded captions</a:t>
            </a:r>
          </a:p>
          <a:p>
            <a:pPr>
              <a:spcAft>
                <a:spcPts val="1100"/>
              </a:spcAft>
              <a:defRPr sz="1800">
                <a:solidFill>
                  <a:srgbClr val="283642"/>
                </a:solidFill>
                <a:latin typeface="Aptos"/>
              </a:defRPr>
            </a:pPr>
            <a:r>
              <a:t>Persistent challenge: missing relations, overgeneralization and hallucination</a:t>
            </a:r>
          </a:p>
          <a:p>
            <a:pPr>
              <a:spcAft>
                <a:spcPts val="1100"/>
              </a:spcAft>
              <a:defRPr sz="1800">
                <a:solidFill>
                  <a:srgbClr val="283642"/>
                </a:solidFill>
                <a:latin typeface="Aptos"/>
              </a:defRPr>
            </a:pPr>
            <a:r>
              <a:t>Evaluation gap must be tested against closest prior work; it cannot be asserted from a list of papers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8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113385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CaptionLens | Research review cutoff: 23 Oct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324A"/>
                </a:solidFill>
                <a:latin typeface="Aptos Display"/>
              </a:defRPr>
            </a:pPr>
            <a:r>
              <a:t>IIT Hyderabad alignment and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1440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95E70"/>
                </a:solidFill>
              </a:defRPr>
            </a:pPr>
            <a:r>
              <a:t>Preserved core from original working draft; details expanded in the companion workbook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283642"/>
                </a:solidFill>
                <a:latin typeface="Aptos"/>
              </a:defRPr>
            </a:pPr>
            <a:r>
              <a:t>Original deck's IITH null result was only preliminary and is now superseded</a:t>
            </a:r>
          </a:p>
          <a:p>
            <a:pPr>
              <a:spcAft>
                <a:spcPts val="1100"/>
              </a:spcAft>
              <a:defRPr sz="1800">
                <a:solidFill>
                  <a:srgbClr val="283642"/>
                </a:solidFill>
                <a:latin typeface="Aptos"/>
              </a:defRPr>
            </a:pPr>
            <a:r>
              <a:t>Official IITH sources list multiple relevant image-captioning and remote-sensing captioning papers</a:t>
            </a:r>
          </a:p>
          <a:p>
            <a:pPr>
              <a:spcAft>
                <a:spcPts val="1100"/>
              </a:spcAft>
              <a:defRPr sz="1800">
                <a:solidFill>
                  <a:srgbClr val="283642"/>
                </a:solidFill>
                <a:latin typeface="Aptos"/>
              </a:defRPr>
            </a:pPr>
            <a:r>
              <a:t>Full paper extraction for splits/metrics remains pending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8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113385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CaptionLens | Research review cutoff: 23 Oct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324A"/>
                </a:solidFill>
                <a:latin typeface="Aptos Display"/>
              </a:defRPr>
            </a:pPr>
            <a:r>
              <a:t>Core references and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1440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95E70"/>
                </a:solidFill>
              </a:defRPr>
            </a:pPr>
            <a:r>
              <a:t>Preserved core from original working draft; details expanded in the companion workbook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283642"/>
                </a:solidFill>
                <a:latin typeface="Aptos"/>
              </a:defRPr>
            </a:pPr>
            <a:r>
              <a:t>Original deck included ClipCap, CC12M, BLIP, NWPU-Captions/MLCA-Net, BLIP-2, InstructBLIP, FuseCap, CAST and EKA-BLIP</a:t>
            </a:r>
          </a:p>
          <a:p>
            <a:pPr>
              <a:spcAft>
                <a:spcPts val="1100"/>
              </a:spcAft>
              <a:defRPr sz="1800">
                <a:solidFill>
                  <a:srgbClr val="283642"/>
                </a:solidFill>
                <a:latin typeface="Aptos"/>
              </a:defRPr>
            </a:pPr>
            <a:r>
              <a:t>The updated workbook adds official source URLs and verification labels</a:t>
            </a:r>
          </a:p>
          <a:p>
            <a:pPr>
              <a:spcAft>
                <a:spcPts val="1100"/>
              </a:spcAft>
              <a:defRPr sz="1800">
                <a:solidFill>
                  <a:srgbClr val="283642"/>
                </a:solidFill>
                <a:latin typeface="Aptos"/>
              </a:defRPr>
            </a:pPr>
            <a:r>
              <a:t>Some records remain pending full-text extraction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8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113385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CaptionLens | Research review cutoff: 23 Oct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324A"/>
                </a:solidFill>
                <a:latin typeface="Aptos Display"/>
              </a:defRPr>
            </a:pPr>
            <a:r>
              <a:t>Research status and honest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1440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95E70"/>
                </a:solidFill>
              </a:defRPr>
            </a:pPr>
            <a:r>
              <a:t>Updated evidence audit | proposed work is explicitly separated from verified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283642"/>
                </a:solidFill>
                <a:latin typeface="Aptos"/>
              </a:defRPr>
            </a:pPr>
            <a:r>
              <a:t>Search cutoff: 23 October 2026</a:t>
            </a:r>
          </a:p>
          <a:p>
            <a:pPr>
              <a:spcAft>
                <a:spcPts val="1100"/>
              </a:spcAft>
              <a:defRPr sz="1700">
                <a:solidFill>
                  <a:srgbClr val="283642"/>
                </a:solidFill>
                <a:latin typeface="Aptos"/>
              </a:defRPr>
            </a:pPr>
            <a:r>
              <a:t>This is a scoping review in progress—not an exhaustive PRISMA systematic review</a:t>
            </a:r>
          </a:p>
          <a:p>
            <a:pPr>
              <a:spcAft>
                <a:spcPts val="1100"/>
              </a:spcAft>
              <a:defRPr sz="1700">
                <a:solidFill>
                  <a:srgbClr val="283642"/>
                </a:solidFill>
                <a:latin typeface="Aptos"/>
              </a:defRPr>
            </a:pPr>
            <a:r>
              <a:t>No CaptionLens experiments were run for this update; all experimental outcomes remain hypotheses</a:t>
            </a:r>
          </a:p>
          <a:p>
            <a:pPr>
              <a:spcAft>
                <a:spcPts val="1100"/>
              </a:spcAft>
              <a:defRPr sz="1700">
                <a:solidFill>
                  <a:srgbClr val="283642"/>
                </a:solidFill>
                <a:latin typeface="Aptos"/>
              </a:defRPr>
            </a:pPr>
            <a:r>
              <a:t>Full standalone main report was not accessible; the available executive summary is preserved in the updated document appendix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8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113385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CaptionLens | Research review cutoff: 23 Oct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324A"/>
                </a:solidFill>
                <a:latin typeface="Aptos Display"/>
              </a:defRPr>
            </a:pPr>
            <a:r>
              <a:t>Why the research question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1440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95E70"/>
                </a:solidFill>
              </a:defRPr>
            </a:pPr>
            <a:r>
              <a:t>Updated evidence audit | proposed work is explicitly separated from verified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283642"/>
                </a:solidFill>
                <a:latin typeface="Aptos"/>
              </a:defRPr>
            </a:pPr>
            <a:r>
              <a:t>Fluent captions can still contain unsupported objects, attributes or relations</a:t>
            </a:r>
          </a:p>
          <a:p>
            <a:pPr>
              <a:spcAft>
                <a:spcPts val="1100"/>
              </a:spcAft>
              <a:defRPr sz="1700">
                <a:solidFill>
                  <a:srgbClr val="283642"/>
                </a:solidFill>
                <a:latin typeface="Aptos"/>
              </a:defRPr>
            </a:pPr>
            <a:r>
              <a:t>N-gram overlap does not establish factual correctness</a:t>
            </a:r>
          </a:p>
          <a:p>
            <a:pPr>
              <a:spcAft>
                <a:spcPts val="1100"/>
              </a:spcAft>
              <a:defRPr sz="1700">
                <a:solidFill>
                  <a:srgbClr val="283642"/>
                </a:solidFill>
                <a:latin typeface="Aptos"/>
              </a:defRPr>
            </a:pPr>
            <a:r>
              <a:t>Image-text similarity, hallucination detection and pixel-level grounding measure different things</a:t>
            </a:r>
          </a:p>
          <a:p>
            <a:pPr>
              <a:spcAft>
                <a:spcPts val="1100"/>
              </a:spcAft>
              <a:defRPr sz="1700">
                <a:solidFill>
                  <a:srgbClr val="283642"/>
                </a:solidFill>
                <a:latin typeface="Aptos"/>
              </a:defRPr>
            </a:pPr>
            <a:r>
              <a:t>The project should measure these dimensions separately instead of claiming one universal accuracy score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8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113385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CaptionLens | Research review cutoff: 23 Oct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324A"/>
                </a:solidFill>
                <a:latin typeface="Aptos Display"/>
              </a:defRPr>
            </a:pPr>
            <a:r>
              <a:t>Evolution 2021–2026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1440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95E70"/>
                </a:solidFill>
              </a:defRPr>
            </a:pPr>
            <a:r>
              <a:t>Updated evidence audit | proposed work is explicitly separated from verified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500">
                <a:solidFill>
                  <a:srgbClr val="283642"/>
                </a:solidFill>
                <a:latin typeface="Aptos"/>
              </a:defRPr>
            </a:pPr>
            <a:r>
              <a:t>2021: CLIPScore; CLIP-conditioned caption generation; web-scale pretraining data</a:t>
            </a:r>
          </a:p>
          <a:p>
            <a:pPr>
              <a:spcAft>
                <a:spcPts val="1100"/>
              </a:spcAft>
              <a:defRPr sz="1500">
                <a:solidFill>
                  <a:srgbClr val="283642"/>
                </a:solidFill>
                <a:latin typeface="Aptos"/>
              </a:defRPr>
            </a:pPr>
            <a:r>
              <a:t>2022: BLIP bootstrapping; Flamingo few-shot multimodal learning; IITH multi-scale captioning work</a:t>
            </a:r>
          </a:p>
          <a:p>
            <a:pPr>
              <a:spcAft>
                <a:spcPts val="1100"/>
              </a:spcAft>
              <a:defRPr sz="1500">
                <a:solidFill>
                  <a:srgbClr val="283642"/>
                </a:solidFill>
                <a:latin typeface="Aptos"/>
              </a:defRPr>
            </a:pPr>
            <a:r>
              <a:t>2023: BLIP-2 Q-Former; LLaVA instruction tuning; medical multimodal models</a:t>
            </a:r>
          </a:p>
          <a:p>
            <a:pPr>
              <a:spcAft>
                <a:spcPts val="1100"/>
              </a:spcAft>
              <a:defRPr sz="1500">
                <a:solidFill>
                  <a:srgbClr val="283642"/>
                </a:solidFill>
                <a:latin typeface="Aptos"/>
              </a:defRPr>
            </a:pPr>
            <a:r>
              <a:t>2024: Florence-2; DOCCI; ImageInWords; ALOHa/OpenCHAIR</a:t>
            </a:r>
          </a:p>
          <a:p>
            <a:pPr>
              <a:spcAft>
                <a:spcPts val="1100"/>
              </a:spcAft>
              <a:defRPr sz="1500">
                <a:solidFill>
                  <a:srgbClr val="283642"/>
                </a:solidFill>
                <a:latin typeface="Aptos"/>
              </a:defRPr>
            </a:pPr>
            <a:r>
              <a:t>2025: Panoptic Captioning with PancapChain/PancapScore</a:t>
            </a:r>
          </a:p>
          <a:p>
            <a:pPr>
              <a:spcAft>
                <a:spcPts val="1100"/>
              </a:spcAft>
              <a:defRPr sz="1500">
                <a:solidFill>
                  <a:srgbClr val="283642"/>
                </a:solidFill>
                <a:latin typeface="Aptos"/>
              </a:defRPr>
            </a:pPr>
            <a:r>
              <a:t>2026: PANORAMA preprint for phrase-mask grounded captions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8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113385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CaptionLens | Research review cutoff: 23 Oct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324A"/>
                </a:solidFill>
                <a:latin typeface="Aptos Display"/>
              </a:defRPr>
            </a:pPr>
            <a:r>
              <a:t>Do not confuse adjacent tasks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1440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95E70"/>
                </a:solidFill>
              </a:defRPr>
            </a:pPr>
            <a:r>
              <a:t>Updated evidence audit | proposed work is explicitly separated from verified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500">
                <a:solidFill>
                  <a:srgbClr val="283642"/>
                </a:solidFill>
                <a:latin typeface="Aptos"/>
              </a:defRPr>
            </a:pPr>
            <a:r>
              <a:t>Caption generation: produce a description for an image</a:t>
            </a:r>
          </a:p>
          <a:p>
            <a:pPr>
              <a:spcAft>
                <a:spcPts val="1100"/>
              </a:spcAft>
              <a:defRPr sz="1500">
                <a:solidFill>
                  <a:srgbClr val="283642"/>
                </a:solidFill>
                <a:latin typeface="Aptos"/>
              </a:defRPr>
            </a:pPr>
            <a:r>
              <a:t>VQA / visual dialogue: answer a question or follow an instruction</a:t>
            </a:r>
          </a:p>
          <a:p>
            <a:pPr>
              <a:spcAft>
                <a:spcPts val="1100"/>
              </a:spcAft>
              <a:defRPr sz="1500">
                <a:solidFill>
                  <a:srgbClr val="283642"/>
                </a:solidFill>
                <a:latin typeface="Aptos"/>
              </a:defRPr>
            </a:pPr>
            <a:r>
              <a:t>Image-text retrieval: rank matching text/image pairs</a:t>
            </a:r>
          </a:p>
          <a:p>
            <a:pPr>
              <a:spcAft>
                <a:spcPts val="1100"/>
              </a:spcAft>
              <a:defRPr sz="1500">
                <a:solidFill>
                  <a:srgbClr val="283642"/>
                </a:solidFill>
                <a:latin typeface="Aptos"/>
              </a:defRPr>
            </a:pPr>
            <a:r>
              <a:t>Radiology report generation: generate clinical report text, often multi-sentence and patient-sensitive</a:t>
            </a:r>
          </a:p>
          <a:p>
            <a:pPr>
              <a:spcAft>
                <a:spcPts val="1100"/>
              </a:spcAft>
              <a:defRPr sz="1500">
                <a:solidFill>
                  <a:srgbClr val="283642"/>
                </a:solidFill>
                <a:latin typeface="Aptos"/>
              </a:defRPr>
            </a:pPr>
            <a:r>
              <a:t>Grounded captioning: connect phrases to regions or masks</a:t>
            </a:r>
          </a:p>
          <a:p>
            <a:pPr>
              <a:spcAft>
                <a:spcPts val="1100"/>
              </a:spcAft>
              <a:defRPr sz="1500">
                <a:solidFill>
                  <a:srgbClr val="283642"/>
                </a:solidFill>
                <a:latin typeface="Aptos"/>
              </a:defRPr>
            </a:pPr>
            <a:r>
              <a:t>Only compare metrics within matching tasks/protocols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8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113385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CaptionLens | Research review cutoff: 23 Oct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324A"/>
                </a:solidFill>
                <a:latin typeface="Aptos Display"/>
              </a:defRPr>
            </a:pPr>
            <a:r>
              <a:t>Selected model and dataset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1440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95E70"/>
                </a:solidFill>
              </a:defRPr>
            </a:pPr>
            <a:r>
              <a:t>Updated evidence audit | proposed work is explicitly separated from verified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500">
                <a:solidFill>
                  <a:srgbClr val="283642"/>
                </a:solidFill>
                <a:latin typeface="Aptos"/>
              </a:defRPr>
            </a:pPr>
            <a:r>
              <a:t>BLIP: caption bootstrapping/filtering; official code available</a:t>
            </a:r>
          </a:p>
          <a:p>
            <a:pPr>
              <a:spcAft>
                <a:spcPts val="1100"/>
              </a:spcAft>
              <a:defRPr sz="1500">
                <a:solidFill>
                  <a:srgbClr val="283642"/>
                </a:solidFill>
                <a:latin typeface="Aptos"/>
              </a:defRPr>
            </a:pPr>
            <a:r>
              <a:t>BLIP-2: Q-Former over frozen image encoder and LLM</a:t>
            </a:r>
          </a:p>
          <a:p>
            <a:pPr>
              <a:spcAft>
                <a:spcPts val="1100"/>
              </a:spcAft>
              <a:defRPr sz="1500">
                <a:solidFill>
                  <a:srgbClr val="283642"/>
                </a:solidFill>
                <a:latin typeface="Aptos"/>
              </a:defRPr>
            </a:pPr>
            <a:r>
              <a:t>Florence-2: unified prompt-based captioning/detection/grounding/segmentation; FLD-5B has 5.4B annotations over 126M images</a:t>
            </a:r>
          </a:p>
          <a:p>
            <a:pPr>
              <a:spcAft>
                <a:spcPts val="1100"/>
              </a:spcAft>
              <a:defRPr sz="1500">
                <a:solidFill>
                  <a:srgbClr val="283642"/>
                </a:solidFill>
                <a:latin typeface="Aptos"/>
              </a:defRPr>
            </a:pPr>
            <a:r>
              <a:t>DOCCI: 15k images; 136-word average detailed descriptions</a:t>
            </a:r>
          </a:p>
          <a:p>
            <a:pPr>
              <a:spcAft>
                <a:spcPts val="1100"/>
              </a:spcAft>
              <a:defRPr sz="1500">
                <a:solidFill>
                  <a:srgbClr val="283642"/>
                </a:solidFill>
                <a:latin typeface="Aptos"/>
              </a:defRPr>
            </a:pPr>
            <a:r>
              <a:t>ImageInWords: human-in-loop detailed descriptions and object annotations</a:t>
            </a:r>
          </a:p>
          <a:p>
            <a:pPr>
              <a:spcAft>
                <a:spcPts val="1100"/>
              </a:spcAft>
              <a:defRPr sz="1500">
                <a:solidFill>
                  <a:srgbClr val="283642"/>
                </a:solidFill>
                <a:latin typeface="Aptos"/>
              </a:defRPr>
            </a:pPr>
            <a:r>
              <a:t>PANORAMA: phrase-conditioned mask selection; arXiv preprint at cutoff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8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113385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CaptionLens | Research review cutoff: 23 Oct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324A"/>
                </a:solidFill>
                <a:latin typeface="Aptos Display"/>
              </a:defRPr>
            </a:pPr>
            <a:r>
              <a:t>Evaluation stack: separate constructs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1440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95E70"/>
                </a:solidFill>
              </a:defRPr>
            </a:pPr>
            <a:r>
              <a:t>Updated evidence audit | proposed work is explicitly separated from verified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500">
                <a:solidFill>
                  <a:srgbClr val="283642"/>
                </a:solidFill>
                <a:latin typeface="Aptos"/>
              </a:defRPr>
            </a:pPr>
            <a:r>
              <a:t>Conventional reference metrics: BLEU, METEOR, ROUGE-L, CIDEr, SPICE</a:t>
            </a:r>
          </a:p>
          <a:p>
            <a:pPr>
              <a:spcAft>
                <a:spcPts val="1100"/>
              </a:spcAft>
              <a:defRPr sz="1500">
                <a:solidFill>
                  <a:srgbClr val="283642"/>
                </a:solidFill>
                <a:latin typeface="Aptos"/>
              </a:defRPr>
            </a:pPr>
            <a:r>
              <a:t>Semantic text similarity: BERTScore</a:t>
            </a:r>
          </a:p>
          <a:p>
            <a:pPr>
              <a:spcAft>
                <a:spcPts val="1100"/>
              </a:spcAft>
              <a:defRPr sz="1500">
                <a:solidFill>
                  <a:srgbClr val="283642"/>
                </a:solidFill>
                <a:latin typeface="Aptos"/>
              </a:defRPr>
            </a:pPr>
            <a:r>
              <a:t>Image-text compatibility: CLIPScore / RefCLIPScore</a:t>
            </a:r>
          </a:p>
          <a:p>
            <a:pPr>
              <a:spcAft>
                <a:spcPts val="1100"/>
              </a:spcAft>
              <a:defRPr sz="1500">
                <a:solidFill>
                  <a:srgbClr val="283642"/>
                </a:solidFill>
                <a:latin typeface="Aptos"/>
              </a:defRPr>
            </a:pPr>
            <a:r>
              <a:t>Object hallucination: CHAIR; open-vocabulary approaches: ALOHa, OpenCHAIR</a:t>
            </a:r>
          </a:p>
          <a:p>
            <a:pPr>
              <a:spcAft>
                <a:spcPts val="1100"/>
              </a:spcAft>
              <a:defRPr sz="1500">
                <a:solidFill>
                  <a:srgbClr val="283642"/>
                </a:solidFill>
                <a:latin typeface="Aptos"/>
              </a:defRPr>
            </a:pPr>
            <a:r>
              <a:t>Phrase-mask grounding: task-specific grounding measures such as gPQ</a:t>
            </a:r>
          </a:p>
          <a:p>
            <a:pPr>
              <a:spcAft>
                <a:spcPts val="1100"/>
              </a:spcAft>
              <a:defRPr sz="1500">
                <a:solidFill>
                  <a:srgbClr val="283642"/>
                </a:solidFill>
                <a:latin typeface="Aptos"/>
              </a:defRPr>
            </a:pPr>
            <a:r>
              <a:t>Human/domain-expert review is required for strong factuality or clinical claims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8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113385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CaptionLens | Research review cutoff: 23 Oct 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324A"/>
                </a:solidFill>
                <a:latin typeface="Aptos Display"/>
              </a:defRPr>
            </a:pPr>
            <a:r>
              <a:t>IITH: positive verified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1440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95E70"/>
                </a:solidFill>
              </a:defRPr>
            </a:pPr>
            <a:r>
              <a:t>Updated evidence audit | proposed work is explicitly separated from verified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283642"/>
                </a:solidFill>
                <a:latin typeface="Aptos"/>
              </a:defRPr>
            </a:pPr>
            <a:r>
              <a:t>M-FFN: Multi-Scale Feature Fusion Network for Image Captioning (2022)</a:t>
            </a:r>
          </a:p>
          <a:p>
            <a:pPr>
              <a:spcAft>
                <a:spcPts val="1100"/>
              </a:spcAft>
              <a:defRPr sz="1700">
                <a:solidFill>
                  <a:srgbClr val="283642"/>
                </a:solidFill>
                <a:latin typeface="Aptos"/>
              </a:defRPr>
            </a:pPr>
            <a:r>
              <a:t>Incorporating Attentive Multi-Scale Context Information for Image Captioning (2022)</a:t>
            </a:r>
          </a:p>
          <a:p>
            <a:pPr>
              <a:spcAft>
                <a:spcPts val="1100"/>
              </a:spcAft>
              <a:defRPr sz="1700">
                <a:solidFill>
                  <a:srgbClr val="283642"/>
                </a:solidFill>
                <a:latin typeface="Aptos"/>
              </a:defRPr>
            </a:pPr>
            <a:r>
              <a:t>Attentive Contextual Network for Image Captioning (2021)</a:t>
            </a:r>
          </a:p>
          <a:p>
            <a:pPr>
              <a:spcAft>
                <a:spcPts val="1100"/>
              </a:spcAft>
              <a:defRPr sz="1700">
                <a:solidFill>
                  <a:srgbClr val="283642"/>
                </a:solidFill>
                <a:latin typeface="Aptos"/>
              </a:defRPr>
            </a:pPr>
            <a:r>
              <a:t>Deformable and Structural Representative Network for Remote Sensing Image Captioning (2022)</a:t>
            </a:r>
          </a:p>
          <a:p>
            <a:pPr>
              <a:spcAft>
                <a:spcPts val="1100"/>
              </a:spcAft>
              <a:defRPr sz="1700">
                <a:solidFill>
                  <a:srgbClr val="283642"/>
                </a:solidFill>
                <a:latin typeface="Aptos"/>
              </a:defRPr>
            </a:pPr>
            <a:r>
              <a:t>IITH-hosted papers mention Sydney-Captions and UCM-Captions; exact metric tables still need extraction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8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113385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CaptionLens | Research review cutoff: 23 Oct 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324A"/>
                </a:solidFill>
                <a:latin typeface="Aptos Display"/>
              </a:defRPr>
            </a:pPr>
            <a:r>
              <a:t>Closest prior work sets a high bar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1440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95E70"/>
                </a:solidFill>
              </a:defRPr>
            </a:pPr>
            <a:r>
              <a:t>Updated evidence audit | proposed work is explicitly separated from verified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283642"/>
                </a:solidFill>
                <a:latin typeface="Aptos"/>
              </a:defRPr>
            </a:pPr>
            <a:r>
              <a:t>CLIPScore already evaluates image-text compatibility without references</a:t>
            </a:r>
          </a:p>
          <a:p>
            <a:pPr>
              <a:spcAft>
                <a:spcPts val="1100"/>
              </a:spcAft>
              <a:defRPr sz="1700">
                <a:solidFill>
                  <a:srgbClr val="283642"/>
                </a:solidFill>
                <a:latin typeface="Aptos"/>
              </a:defRPr>
            </a:pPr>
            <a:r>
              <a:t>CHAIR and ALOHa/OpenCHAIR already address object hallucination; MOCHa addresses mitigation</a:t>
            </a:r>
          </a:p>
          <a:p>
            <a:pPr>
              <a:spcAft>
                <a:spcPts val="1100"/>
              </a:spcAft>
              <a:defRPr sz="1700">
                <a:solidFill>
                  <a:srgbClr val="283642"/>
                </a:solidFill>
                <a:latin typeface="Aptos"/>
              </a:defRPr>
            </a:pPr>
            <a:r>
              <a:t>DOCCI and ImageInWords already target detailed descriptions</a:t>
            </a:r>
          </a:p>
          <a:p>
            <a:pPr>
              <a:spcAft>
                <a:spcPts val="1100"/>
              </a:spcAft>
              <a:defRPr sz="1700">
                <a:solidFill>
                  <a:srgbClr val="283642"/>
                </a:solidFill>
                <a:latin typeface="Aptos"/>
              </a:defRPr>
            </a:pPr>
            <a:r>
              <a:t>Panoptic Captioning (NeurIPS 2025) already targets comprehensive captions</a:t>
            </a:r>
          </a:p>
          <a:p>
            <a:pPr>
              <a:spcAft>
                <a:spcPts val="1100"/>
              </a:spcAft>
              <a:defRPr sz="1700">
                <a:solidFill>
                  <a:srgbClr val="283642"/>
                </a:solidFill>
                <a:latin typeface="Aptos"/>
              </a:defRPr>
            </a:pPr>
            <a:r>
              <a:t>PANORAMA (2026 preprint) already links phrases to pixel masks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8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113385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CaptionLens | Research review cutoff: 23 Oct 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324A"/>
                </a:solidFill>
                <a:latin typeface="Aptos Display"/>
              </a:defRPr>
            </a:pPr>
            <a:r>
              <a:t>Recommended research direction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1440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95E70"/>
                </a:solidFill>
              </a:defRPr>
            </a:pPr>
            <a:r>
              <a:t>Updated evidence audit | proposed work is explicitly separated from verified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283642"/>
                </a:solidFill>
                <a:latin typeface="Aptos"/>
              </a:defRPr>
            </a:pPr>
            <a:r>
              <a:t>CaptionLens: reproducible, evidence-aware reliability audit of image captions</a:t>
            </a:r>
          </a:p>
          <a:p>
            <a:pPr>
              <a:spcAft>
                <a:spcPts val="1100"/>
              </a:spcAft>
              <a:defRPr sz="1700">
                <a:solidFill>
                  <a:srgbClr val="283642"/>
                </a:solidFill>
                <a:latin typeface="Aptos"/>
              </a:defRPr>
            </a:pPr>
            <a:r>
              <a:t>Research question: how often do fluent captions contain unsupported objects/attributes/relations, and how well do common metrics expose them?</a:t>
            </a:r>
          </a:p>
          <a:p>
            <a:pPr>
              <a:spcAft>
                <a:spcPts val="1100"/>
              </a:spcAft>
              <a:defRPr sz="1700">
                <a:solidFill>
                  <a:srgbClr val="283642"/>
                </a:solidFill>
                <a:latin typeface="Aptos"/>
              </a:defRPr>
            </a:pPr>
            <a:r>
              <a:t>Proposed output: protocol + error taxonomy + cross-dataset results + evidence-linked examples</a:t>
            </a:r>
          </a:p>
          <a:p>
            <a:pPr>
              <a:spcAft>
                <a:spcPts val="1100"/>
              </a:spcAft>
              <a:defRPr sz="1700">
                <a:solidFill>
                  <a:srgbClr val="283642"/>
                </a:solidFill>
                <a:latin typeface="Aptos"/>
              </a:defRPr>
            </a:pPr>
            <a:r>
              <a:t>Novelty status: hypothesis only; compare with closest prior work before claiming contribution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8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113385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CaptionLens | Research review cutoff: 23 Oct 2026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324A"/>
                </a:solidFill>
                <a:latin typeface="Aptos Display"/>
              </a:defRPr>
            </a:pPr>
            <a:r>
              <a:t>Proposed experimental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1440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95E70"/>
                </a:solidFill>
              </a:defRPr>
            </a:pPr>
            <a:r>
              <a:t>Updated evidence audit | proposed work is explicitly separated from verified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283642"/>
                </a:solidFill>
                <a:latin typeface="Aptos"/>
              </a:defRPr>
            </a:pPr>
            <a:r>
              <a:t>Choose one domain first: natural images or remote sensing</a:t>
            </a:r>
          </a:p>
          <a:p>
            <a:pPr>
              <a:spcAft>
                <a:spcPts val="1100"/>
              </a:spcAft>
              <a:defRPr sz="1700">
                <a:solidFill>
                  <a:srgbClr val="283642"/>
                </a:solidFill>
                <a:latin typeface="Aptos"/>
              </a:defRPr>
            </a:pPr>
            <a:r>
              <a:t>Baselines: BLIP, BLIP-2, Florence-2 and one feasible MLLM with pinned checkpoints</a:t>
            </a:r>
          </a:p>
          <a:p>
            <a:pPr>
              <a:spcAft>
                <a:spcPts val="1100"/>
              </a:spcAft>
              <a:defRPr sz="1700">
                <a:solidFill>
                  <a:srgbClr val="283642"/>
                </a:solidFill>
                <a:latin typeface="Aptos"/>
              </a:defRPr>
            </a:pPr>
            <a:r>
              <a:t>Datasets: COCO plus NoCaps; add DOCCI/IIW for detailed captions; or choose verified remote-sensing dataset family</a:t>
            </a:r>
          </a:p>
          <a:p>
            <a:pPr>
              <a:spcAft>
                <a:spcPts val="1100"/>
              </a:spcAft>
              <a:defRPr sz="1700">
                <a:solidFill>
                  <a:srgbClr val="283642"/>
                </a:solidFill>
                <a:latin typeface="Aptos"/>
              </a:defRPr>
            </a:pPr>
            <a:r>
              <a:t>Metrics: CIDEr/BLEU/METEOR/SPICE + CLIPScore + CHAIR/ALOHa where supported + human factuality annotation</a:t>
            </a:r>
          </a:p>
          <a:p>
            <a:pPr>
              <a:spcAft>
                <a:spcPts val="1100"/>
              </a:spcAft>
              <a:defRPr sz="1700">
                <a:solidFill>
                  <a:srgbClr val="283642"/>
                </a:solidFill>
                <a:latin typeface="Aptos"/>
              </a:defRPr>
            </a:pPr>
            <a:r>
              <a:t>Stress slices: small objects, counting, spatial relations, text-in-image, occlusion, long-tail concepts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8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113385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CaptionLens | Research review cutoff: 23 Oct 2026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324A"/>
                </a:solidFill>
                <a:latin typeface="Aptos Display"/>
              </a:defRPr>
            </a:pPr>
            <a:r>
              <a:t>Reproducibility and controls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1440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95E70"/>
                </a:solidFill>
              </a:defRPr>
            </a:pPr>
            <a:r>
              <a:t>Updated evidence audit | proposed work is explicitly separated from verified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283642"/>
                </a:solidFill>
                <a:latin typeface="Aptos"/>
              </a:defRPr>
            </a:pPr>
            <a:r>
              <a:t>Pin checkpoint, code commit, package versions, prompt, decoding settings, preprocessing and random seeds</a:t>
            </a:r>
          </a:p>
          <a:p>
            <a:pPr>
              <a:spcAft>
                <a:spcPts val="1100"/>
              </a:spcAft>
              <a:defRPr sz="1700">
                <a:solidFill>
                  <a:srgbClr val="283642"/>
                </a:solidFill>
                <a:latin typeface="Aptos"/>
              </a:defRPr>
            </a:pPr>
            <a:r>
              <a:t>Use official splits; detect duplicates and near-duplicates; avoid test-set tuning</a:t>
            </a:r>
          </a:p>
          <a:p>
            <a:pPr>
              <a:spcAft>
                <a:spcPts val="1100"/>
              </a:spcAft>
              <a:defRPr sz="1700">
                <a:solidFill>
                  <a:srgbClr val="283642"/>
                </a:solidFill>
                <a:latin typeface="Aptos"/>
              </a:defRPr>
            </a:pPr>
            <a:r>
              <a:t>Report uncertainty (e.g. paired bootstrap intervals) and annotator agreement</a:t>
            </a:r>
          </a:p>
          <a:p>
            <a:pPr>
              <a:spcAft>
                <a:spcPts val="1100"/>
              </a:spcAft>
              <a:defRPr sz="1700">
                <a:solidFill>
                  <a:srgbClr val="283642"/>
                </a:solidFill>
                <a:latin typeface="Aptos"/>
              </a:defRPr>
            </a:pPr>
            <a:r>
              <a:t>Keep a complete error log; include negative results and failure cases</a:t>
            </a:r>
          </a:p>
          <a:p>
            <a:pPr>
              <a:spcAft>
                <a:spcPts val="1100"/>
              </a:spcAft>
              <a:defRPr sz="1700">
                <a:solidFill>
                  <a:srgbClr val="283642"/>
                </a:solidFill>
                <a:latin typeface="Aptos"/>
              </a:defRPr>
            </a:pPr>
            <a:r>
              <a:t>Do not merge scores across datasets or tasks into a single leaderboard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8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113385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CaptionLens | Research review cutoff: 23 Oct 2026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324A"/>
                </a:solidFill>
                <a:latin typeface="Aptos Display"/>
              </a:defRPr>
            </a:pPr>
            <a:r>
              <a:t>Medical data: separate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1440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95E70"/>
                </a:solidFill>
              </a:defRPr>
            </a:pPr>
            <a:r>
              <a:t>Updated evidence audit | proposed work is explicitly separated from verified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283642"/>
                </a:solidFill>
                <a:latin typeface="Aptos"/>
              </a:defRPr>
            </a:pPr>
            <a:r>
              <a:t>ROCO figure captions and MIMIC-CXR radiology reports are different targets</a:t>
            </a:r>
          </a:p>
          <a:p>
            <a:pPr>
              <a:spcAft>
                <a:spcPts val="1100"/>
              </a:spcAft>
              <a:defRPr sz="1700">
                <a:solidFill>
                  <a:srgbClr val="283642"/>
                </a:solidFill>
                <a:latin typeface="Aptos"/>
              </a:defRPr>
            </a:pPr>
            <a:r>
              <a:t>MIMIC-CXR access requires credentialing, required training and a signed DUA</a:t>
            </a:r>
          </a:p>
          <a:p>
            <a:pPr>
              <a:spcAft>
                <a:spcPts val="1100"/>
              </a:spcAft>
              <a:defRPr sz="1700">
                <a:solidFill>
                  <a:srgbClr val="283642"/>
                </a:solidFill>
                <a:latin typeface="Aptos"/>
              </a:defRPr>
            </a:pPr>
            <a:r>
              <a:t>Use patient/study-level split and prevent same-patient leakage</a:t>
            </a:r>
          </a:p>
          <a:p>
            <a:pPr>
              <a:spcAft>
                <a:spcPts val="1100"/>
              </a:spcAft>
              <a:defRPr sz="1700">
                <a:solidFill>
                  <a:srgbClr val="283642"/>
                </a:solidFill>
                <a:latin typeface="Aptos"/>
              </a:defRPr>
            </a:pPr>
            <a:r>
              <a:t>Clinical factuality requires domain-expert review; research models must not be presented as clinical tools</a:t>
            </a:r>
          </a:p>
          <a:p>
            <a:pPr>
              <a:spcAft>
                <a:spcPts val="1100"/>
              </a:spcAft>
              <a:defRPr sz="1700">
                <a:solidFill>
                  <a:srgbClr val="283642"/>
                </a:solidFill>
                <a:latin typeface="Aptos"/>
              </a:defRPr>
            </a:pPr>
            <a:r>
              <a:t>Only pursue this track with supervisor approval and suitable access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8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113385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CaptionLens | Research review cutoff: 23 Oct 2026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324A"/>
                </a:solidFill>
                <a:latin typeface="Aptos Display"/>
              </a:defRPr>
            </a:pPr>
            <a:r>
              <a:t>Unverified claims removed from the evidence base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1440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95E70"/>
                </a:solidFill>
              </a:defRPr>
            </a:pPr>
            <a:r>
              <a:t>Updated evidence audit | proposed work is explicitly separated from verified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283642"/>
                </a:solidFill>
                <a:latin typeface="Aptos"/>
              </a:defRPr>
            </a:pPr>
            <a:r>
              <a:t>34% hallucination increase with synthetic captions: no primary source verified in this pass</a:t>
            </a:r>
          </a:p>
          <a:p>
            <a:pPr>
              <a:spcAft>
                <a:spcPts val="1100"/>
              </a:spcAft>
              <a:defRPr sz="1700">
                <a:solidFill>
                  <a:srgbClr val="283642"/>
                </a:solidFill>
                <a:latin typeface="Aptos"/>
              </a:defRPr>
            </a:pPr>
            <a:r>
              <a:t>MM-SeR matching 7B models at 80–90% lower latency: no primary source verified</a:t>
            </a:r>
          </a:p>
          <a:p>
            <a:pPr>
              <a:spcAft>
                <a:spcPts val="1100"/>
              </a:spcAft>
              <a:defRPr sz="1700">
                <a:solidFill>
                  <a:srgbClr val="283642"/>
                </a:solidFill>
                <a:latin typeface="Aptos"/>
              </a:defRPr>
            </a:pPr>
            <a:r>
              <a:t>PanoCaps '13 masks/image': not confirmed from the official page checked</a:t>
            </a:r>
          </a:p>
          <a:p>
            <a:pPr>
              <a:spcAft>
                <a:spcPts val="1100"/>
              </a:spcAft>
              <a:defRPr sz="1700">
                <a:solidFill>
                  <a:srgbClr val="283642"/>
                </a:solidFill>
                <a:latin typeface="Aptos"/>
              </a:defRPr>
            </a:pPr>
            <a:r>
              <a:t>DOCCI exact 12k/3k split: not verified</a:t>
            </a:r>
          </a:p>
          <a:p>
            <a:pPr>
              <a:spcAft>
                <a:spcPts val="1100"/>
              </a:spcAft>
              <a:defRPr sz="1700">
                <a:solidFill>
                  <a:srgbClr val="283642"/>
                </a:solidFill>
                <a:latin typeface="Aptos"/>
              </a:defRPr>
            </a:pPr>
            <a:r>
              <a:t>Do not present placeholder CIDEr values as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8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113385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CaptionLens | Research review cutoff: 23 Oct 2026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324A"/>
                </a:solidFill>
                <a:latin typeface="Aptos Display"/>
              </a:defRPr>
            </a:pPr>
            <a:r>
              <a:t>Roadmap and supervisor 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1440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95E70"/>
                </a:solidFill>
              </a:defRPr>
            </a:pPr>
            <a:r>
              <a:t>Updated evidence audit | proposed work is explicitly separated from verified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500">
                <a:solidFill>
                  <a:srgbClr val="283642"/>
                </a:solidFill>
                <a:latin typeface="Aptos"/>
              </a:defRPr>
            </a:pPr>
            <a:r>
              <a:t>Week 1: choose domain and lock one research question</a:t>
            </a:r>
          </a:p>
          <a:p>
            <a:pPr>
              <a:spcAft>
                <a:spcPts val="1100"/>
              </a:spcAft>
              <a:defRPr sz="1500">
                <a:solidFill>
                  <a:srgbClr val="283642"/>
                </a:solidFill>
                <a:latin typeface="Aptos"/>
              </a:defRPr>
            </a:pPr>
            <a:r>
              <a:t>Weeks 2–3: extract full paper tables and IITH baselines</a:t>
            </a:r>
          </a:p>
          <a:p>
            <a:pPr>
              <a:spcAft>
                <a:spcPts val="1100"/>
              </a:spcAft>
              <a:defRPr sz="1500">
                <a:solidFill>
                  <a:srgbClr val="283642"/>
                </a:solidFill>
                <a:latin typeface="Aptos"/>
              </a:defRPr>
            </a:pPr>
            <a:r>
              <a:t>Weeks 3–4: verify dataset access, licenses and splits</a:t>
            </a:r>
          </a:p>
          <a:p>
            <a:pPr>
              <a:spcAft>
                <a:spcPts val="1100"/>
              </a:spcAft>
              <a:defRPr sz="1500">
                <a:solidFill>
                  <a:srgbClr val="283642"/>
                </a:solidFill>
                <a:latin typeface="Aptos"/>
              </a:defRPr>
            </a:pPr>
            <a:r>
              <a:t>Weeks 5–6: run reproducible baselines</a:t>
            </a:r>
          </a:p>
          <a:p>
            <a:pPr>
              <a:spcAft>
                <a:spcPts val="1100"/>
              </a:spcAft>
              <a:defRPr sz="1500">
                <a:solidFill>
                  <a:srgbClr val="283642"/>
                </a:solidFill>
                <a:latin typeface="Aptos"/>
              </a:defRPr>
            </a:pPr>
            <a:r>
              <a:t>Weeks 7–8: reliability annotation, stress slices and ablations</a:t>
            </a:r>
          </a:p>
          <a:p>
            <a:pPr>
              <a:spcAft>
                <a:spcPts val="1100"/>
              </a:spcAft>
              <a:defRPr sz="1500">
                <a:solidFill>
                  <a:srgbClr val="283642"/>
                </a:solidFill>
                <a:latin typeface="Aptos"/>
              </a:defRPr>
            </a:pPr>
            <a:r>
              <a:t>Weeks 9–10: paper draft and defense-ready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8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113385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CaptionLens | Research review cutoff: 23 Oct 2026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324A"/>
                </a:solidFill>
                <a:latin typeface="Aptos Display"/>
              </a:defRPr>
            </a:pPr>
            <a:r>
              <a:t>Questions for the professor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1440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95E70"/>
                </a:solidFill>
              </a:defRPr>
            </a:pPr>
            <a:r>
              <a:t>Updated evidence audit | proposed work is explicitly separated from verified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283642"/>
                </a:solidFill>
                <a:latin typeface="Aptos"/>
              </a:defRPr>
            </a:pPr>
            <a:r>
              <a:t>Should the project focus on general images or remote-sensing images?</a:t>
            </a:r>
          </a:p>
          <a:p>
            <a:pPr>
              <a:spcAft>
                <a:spcPts val="1100"/>
              </a:spcAft>
              <a:defRPr sz="1700">
                <a:solidFill>
                  <a:srgbClr val="283642"/>
                </a:solidFill>
                <a:latin typeface="Aptos"/>
              </a:defRPr>
            </a:pPr>
            <a:r>
              <a:t>Which baseline/checkpoint and compute budget are approved?</a:t>
            </a:r>
          </a:p>
          <a:p>
            <a:pPr>
              <a:spcAft>
                <a:spcPts val="1100"/>
              </a:spcAft>
              <a:defRPr sz="1700">
                <a:solidFill>
                  <a:srgbClr val="283642"/>
                </a:solidFill>
                <a:latin typeface="Aptos"/>
              </a:defRPr>
            </a:pPr>
            <a:r>
              <a:t>Is the expected contribution a new model, benchmark, or reliability-evaluation protocol?</a:t>
            </a:r>
          </a:p>
          <a:p>
            <a:pPr>
              <a:spcAft>
                <a:spcPts val="1100"/>
              </a:spcAft>
              <a:defRPr sz="1700">
                <a:solidFill>
                  <a:srgbClr val="283642"/>
                </a:solidFill>
                <a:latin typeface="Aptos"/>
              </a:defRPr>
            </a:pPr>
            <a:r>
              <a:t>Can the group support human annotation or domain-expert review?</a:t>
            </a:r>
          </a:p>
          <a:p>
            <a:pPr>
              <a:spcAft>
                <a:spcPts val="1100"/>
              </a:spcAft>
              <a:defRPr sz="1700">
                <a:solidFill>
                  <a:srgbClr val="283642"/>
                </a:solidFill>
                <a:latin typeface="Aptos"/>
              </a:defRPr>
            </a:pPr>
            <a:r>
              <a:t>Which closest prior works must be replicated before novelty is claimed?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8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113385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CaptionLens | Research review cutoff: 23 Oct 2026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324A"/>
                </a:solidFill>
                <a:latin typeface="Aptos Display"/>
              </a:defRPr>
            </a:pPr>
            <a:r>
              <a:t>References — core 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1440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95E70"/>
                </a:solidFill>
              </a:defRPr>
            </a:pPr>
            <a:r>
              <a:t>Updated evidence audit | proposed work is explicitly separated from verified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500">
                <a:solidFill>
                  <a:srgbClr val="283642"/>
                </a:solidFill>
                <a:latin typeface="Aptos"/>
              </a:defRPr>
            </a:pPr>
            <a:r>
              <a:t>BLIP (2022): https://arxiv.org/abs/2201.12086</a:t>
            </a:r>
          </a:p>
          <a:p>
            <a:pPr>
              <a:spcAft>
                <a:spcPts val="1100"/>
              </a:spcAft>
              <a:defRPr sz="1500">
                <a:solidFill>
                  <a:srgbClr val="283642"/>
                </a:solidFill>
                <a:latin typeface="Aptos"/>
              </a:defRPr>
            </a:pPr>
            <a:r>
              <a:t>BLIP-2 (2023): https://arxiv.org/abs/2301.12597</a:t>
            </a:r>
          </a:p>
          <a:p>
            <a:pPr>
              <a:spcAft>
                <a:spcPts val="1100"/>
              </a:spcAft>
              <a:defRPr sz="1500">
                <a:solidFill>
                  <a:srgbClr val="283642"/>
                </a:solidFill>
                <a:latin typeface="Aptos"/>
              </a:defRPr>
            </a:pPr>
            <a:r>
              <a:t>Florence-2 (CVPR 2024): https://openaccess.thecvf.com/content/CVPR2024/html/Xiao_Florence-2_Advancing_a_Unified_Representation_for_a_Variety_of_Vision_Tasks_CVPR_2024_paper.html</a:t>
            </a:r>
          </a:p>
          <a:p>
            <a:pPr>
              <a:spcAft>
                <a:spcPts val="1100"/>
              </a:spcAft>
              <a:defRPr sz="1500">
                <a:solidFill>
                  <a:srgbClr val="283642"/>
                </a:solidFill>
                <a:latin typeface="Aptos"/>
              </a:defRPr>
            </a:pPr>
            <a:r>
              <a:t>DOCCI: https://research.google/pubs/docci-descriptions-of-connected-and-contrasting-images/</a:t>
            </a:r>
          </a:p>
          <a:p>
            <a:pPr>
              <a:spcAft>
                <a:spcPts val="1100"/>
              </a:spcAft>
              <a:defRPr sz="1500">
                <a:solidFill>
                  <a:srgbClr val="283642"/>
                </a:solidFill>
                <a:latin typeface="Aptos"/>
              </a:defRPr>
            </a:pPr>
            <a:r>
              <a:t>ImageInWords: https://research.google/pubs/imageinwords-unlocking-hyper-detailed-image-descriptions/</a:t>
            </a:r>
          </a:p>
          <a:p>
            <a:pPr>
              <a:spcAft>
                <a:spcPts val="1100"/>
              </a:spcAft>
              <a:defRPr sz="1500">
                <a:solidFill>
                  <a:srgbClr val="283642"/>
                </a:solidFill>
                <a:latin typeface="Aptos"/>
              </a:defRPr>
            </a:pPr>
            <a:r>
              <a:t>CLIPScore: https://aclanthology.org/2021.emnlp-main.595/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8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113385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CaptionLens | Research review cutoff: 23 Oct 2026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324A"/>
                </a:solidFill>
                <a:latin typeface="Aptos Display"/>
              </a:defRPr>
            </a:pPr>
            <a:r>
              <a:t>References — hallucination, grounding and IITH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1440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95E70"/>
                </a:solidFill>
              </a:defRPr>
            </a:pPr>
            <a:r>
              <a:t>Updated evidence audit | proposed work is explicitly separated from verified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500">
                <a:solidFill>
                  <a:srgbClr val="283642"/>
                </a:solidFill>
                <a:latin typeface="Aptos"/>
              </a:defRPr>
            </a:pPr>
            <a:r>
              <a:t>ALOHa: https://aclanthology.org/2024.naacl-short.30/</a:t>
            </a:r>
          </a:p>
          <a:p>
            <a:pPr>
              <a:spcAft>
                <a:spcPts val="1100"/>
              </a:spcAft>
              <a:defRPr sz="1500">
                <a:solidFill>
                  <a:srgbClr val="283642"/>
                </a:solidFill>
                <a:latin typeface="Aptos"/>
              </a:defRPr>
            </a:pPr>
            <a:r>
              <a:t>OpenCHAIR/MOCHa: https://aclanthology.org/2024.emnlp-main.1263/</a:t>
            </a:r>
          </a:p>
          <a:p>
            <a:pPr>
              <a:spcAft>
                <a:spcPts val="1100"/>
              </a:spcAft>
              <a:defRPr sz="1500">
                <a:solidFill>
                  <a:srgbClr val="283642"/>
                </a:solidFill>
                <a:latin typeface="Aptos"/>
              </a:defRPr>
            </a:pPr>
            <a:r>
              <a:t>Panoptic Captioning (NeurIPS 2025): https://proceedings.neurips.cc/paper_files/paper/2025/hash/7116cda41d75d580bae15d9e484a8466-Abstract-Conference.html</a:t>
            </a:r>
          </a:p>
          <a:p>
            <a:pPr>
              <a:spcAft>
                <a:spcPts val="1100"/>
              </a:spcAft>
              <a:defRPr sz="1500">
                <a:solidFill>
                  <a:srgbClr val="283642"/>
                </a:solidFill>
                <a:latin typeface="Aptos"/>
              </a:defRPr>
            </a:pPr>
            <a:r>
              <a:t>PANORAMA (2026 preprint): https://arxiv.org/abs/2609.19143</a:t>
            </a:r>
          </a:p>
          <a:p>
            <a:pPr>
              <a:spcAft>
                <a:spcPts val="1100"/>
              </a:spcAft>
              <a:defRPr sz="1500">
                <a:solidFill>
                  <a:srgbClr val="283642"/>
                </a:solidFill>
                <a:latin typeface="Aptos"/>
              </a:defRPr>
            </a:pPr>
            <a:r>
              <a:t>IITH faculty publications: https://people.iith.ac.in/ckm/index.html</a:t>
            </a:r>
          </a:p>
          <a:p>
            <a:pPr>
              <a:spcAft>
                <a:spcPts val="1100"/>
              </a:spcAft>
              <a:defRPr sz="1500">
                <a:solidFill>
                  <a:srgbClr val="283642"/>
                </a:solidFill>
                <a:latin typeface="Aptos"/>
              </a:defRPr>
            </a:pPr>
            <a:r>
              <a:t>MIMIC-CXR access: https://physionet.org/content/mimic-cxr/2.1.0/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8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29400"/>
            <a:ext cx="113385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CaptionLens | Research review cutoff: 23 Oct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